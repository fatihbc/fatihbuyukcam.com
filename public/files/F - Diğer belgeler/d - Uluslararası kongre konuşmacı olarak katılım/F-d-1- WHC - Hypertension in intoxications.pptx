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74" r:id="rId6"/>
    <p:sldId id="266" r:id="rId7"/>
    <p:sldId id="268" r:id="rId8"/>
    <p:sldId id="269" r:id="rId9"/>
    <p:sldId id="270" r:id="rId10"/>
    <p:sldId id="272" r:id="rId11"/>
    <p:sldId id="276" r:id="rId12"/>
    <p:sldId id="284" r:id="rId13"/>
    <p:sldId id="285" r:id="rId14"/>
    <p:sldId id="277" r:id="rId15"/>
    <p:sldId id="261" r:id="rId16"/>
    <p:sldId id="283" r:id="rId17"/>
    <p:sldId id="281" r:id="rId18"/>
    <p:sldId id="275" r:id="rId19"/>
    <p:sldId id="280" r:id="rId20"/>
    <p:sldId id="282" r:id="rId2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43" autoAdjust="0"/>
  </p:normalViewPr>
  <p:slideViewPr>
    <p:cSldViewPr>
      <p:cViewPr>
        <p:scale>
          <a:sx n="50" d="100"/>
          <a:sy n="50" d="100"/>
        </p:scale>
        <p:origin x="-150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1937A0-9A29-4BB7-BCD1-A0B06C7F1782}" type="doc">
      <dgm:prSet loTypeId="urn:microsoft.com/office/officeart/2005/8/layout/cycle5" loCatId="cycle" qsTypeId="urn:microsoft.com/office/officeart/2005/8/quickstyle/3d2" qsCatId="3D" csTypeId="urn:microsoft.com/office/officeart/2005/8/colors/accent1_1" csCatId="accent1" phldr="1"/>
      <dgm:spPr/>
      <dgm:t>
        <a:bodyPr/>
        <a:lstStyle/>
        <a:p>
          <a:endParaRPr lang="tr-TR"/>
        </a:p>
      </dgm:t>
    </dgm:pt>
    <dgm:pt modelId="{64E21C79-C43C-4695-A652-B04792415014}">
      <dgm:prSet phldrT="[Metin]" custT="1"/>
      <dgm:spPr/>
      <dgm:t>
        <a:bodyPr/>
        <a:lstStyle/>
        <a:p>
          <a:r>
            <a:rPr lang="en-US" sz="2400" b="1" noProof="0" smtClean="0"/>
            <a:t>CNS agitation</a:t>
          </a:r>
          <a:endParaRPr lang="en-US" sz="2400" b="1" noProof="0"/>
        </a:p>
      </dgm:t>
    </dgm:pt>
    <dgm:pt modelId="{3C63F1FF-E391-4FB0-8FEE-7797125155EE}" type="parTrans" cxnId="{DADFB711-F282-4840-A958-3498D789E5FA}">
      <dgm:prSet/>
      <dgm:spPr/>
      <dgm:t>
        <a:bodyPr/>
        <a:lstStyle/>
        <a:p>
          <a:endParaRPr lang="tr-TR"/>
        </a:p>
      </dgm:t>
    </dgm:pt>
    <dgm:pt modelId="{5F152E9B-DF66-4D2B-BA01-F1E559505D66}" type="sibTrans" cxnId="{DADFB711-F282-4840-A958-3498D789E5FA}">
      <dgm:prSet/>
      <dgm:spPr>
        <a:ln w="76200"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US" sz="2000" b="1" noProof="0">
            <a:ln w="76200">
              <a:solidFill>
                <a:schemeClr val="tx1"/>
              </a:solidFill>
            </a:ln>
          </a:endParaRPr>
        </a:p>
      </dgm:t>
    </dgm:pt>
    <dgm:pt modelId="{1C250995-A3B2-47E7-B2E0-DEE343E2ACA9}">
      <dgm:prSet custT="1"/>
      <dgm:spPr/>
      <dgm:t>
        <a:bodyPr/>
        <a:lstStyle/>
        <a:p>
          <a:r>
            <a:rPr lang="en-US" sz="2400" b="1" noProof="0" dirty="0" smtClean="0"/>
            <a:t>Increased neuronal fl</a:t>
          </a:r>
          <a:r>
            <a:rPr lang="tr-TR" sz="2400" b="1" noProof="0" dirty="0" smtClean="0"/>
            <a:t>a</a:t>
          </a:r>
          <a:r>
            <a:rPr lang="en-US" sz="2400" b="1" noProof="0" dirty="0" smtClean="0"/>
            <a:t>ring</a:t>
          </a:r>
        </a:p>
      </dgm:t>
    </dgm:pt>
    <dgm:pt modelId="{963CA02B-6501-4880-8A22-2D088F4EE2A6}" type="parTrans" cxnId="{959D8A7B-59DD-435F-969E-6655CBD369A7}">
      <dgm:prSet/>
      <dgm:spPr/>
      <dgm:t>
        <a:bodyPr/>
        <a:lstStyle/>
        <a:p>
          <a:endParaRPr lang="tr-TR"/>
        </a:p>
      </dgm:t>
    </dgm:pt>
    <dgm:pt modelId="{B5660079-90C8-4C80-AF5B-E30B5D446A2A}" type="sibTrans" cxnId="{959D8A7B-59DD-435F-969E-6655CBD369A7}">
      <dgm:prSet/>
      <dgm:spPr>
        <a:ln w="76200"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US" sz="2000" b="1" noProof="0"/>
        </a:p>
      </dgm:t>
    </dgm:pt>
    <dgm:pt modelId="{0C227E62-0196-496C-8C4D-81F9110653B7}">
      <dgm:prSet custT="1"/>
      <dgm:spPr/>
      <dgm:t>
        <a:bodyPr/>
        <a:lstStyle/>
        <a:p>
          <a:r>
            <a:rPr lang="en-US" sz="2400" b="1" noProof="0" smtClean="0"/>
            <a:t>Reuptake blockage</a:t>
          </a:r>
        </a:p>
      </dgm:t>
    </dgm:pt>
    <dgm:pt modelId="{53999E35-4620-4E59-9AA8-3FB39662E6C2}" type="parTrans" cxnId="{29CD8109-75DF-4461-8456-5FBFFA92E53A}">
      <dgm:prSet/>
      <dgm:spPr/>
      <dgm:t>
        <a:bodyPr/>
        <a:lstStyle/>
        <a:p>
          <a:endParaRPr lang="tr-TR"/>
        </a:p>
      </dgm:t>
    </dgm:pt>
    <dgm:pt modelId="{45F5BADC-518C-4F10-96EC-A69D680B721B}" type="sibTrans" cxnId="{29CD8109-75DF-4461-8456-5FBFFA92E53A}">
      <dgm:prSet/>
      <dgm:spPr>
        <a:ln w="76200"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US" sz="2000" b="1" noProof="0"/>
        </a:p>
      </dgm:t>
    </dgm:pt>
    <dgm:pt modelId="{CDB743CF-33A6-44DD-A536-7B3A95A10246}">
      <dgm:prSet custT="1"/>
      <dgm:spPr/>
      <dgm:t>
        <a:bodyPr/>
        <a:lstStyle/>
        <a:p>
          <a:r>
            <a:rPr lang="en-US" sz="2400" b="1" noProof="0" smtClean="0"/>
            <a:t>Exaggerated sympathetic response</a:t>
          </a:r>
          <a:endParaRPr lang="en-US" sz="2400" b="1" noProof="0"/>
        </a:p>
      </dgm:t>
    </dgm:pt>
    <dgm:pt modelId="{93BB8AD8-28BF-4396-B123-85D0BCFBBC33}" type="parTrans" cxnId="{19750F4D-2D2A-4E7A-AB80-FC1BEE9B9F65}">
      <dgm:prSet/>
      <dgm:spPr/>
      <dgm:t>
        <a:bodyPr/>
        <a:lstStyle/>
        <a:p>
          <a:endParaRPr lang="tr-TR"/>
        </a:p>
      </dgm:t>
    </dgm:pt>
    <dgm:pt modelId="{58183FE8-BB2F-4ED8-A196-38D75B4590BA}" type="sibTrans" cxnId="{19750F4D-2D2A-4E7A-AB80-FC1BEE9B9F65}">
      <dgm:prSet/>
      <dgm:spPr>
        <a:ln w="76200"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US" sz="2000" b="1" noProof="0">
            <a:ln w="76200">
              <a:solidFill>
                <a:schemeClr val="tx1"/>
              </a:solidFill>
            </a:ln>
          </a:endParaRPr>
        </a:p>
      </dgm:t>
    </dgm:pt>
    <dgm:pt modelId="{78FCE836-9672-47D7-A8D4-216F358D700C}" type="pres">
      <dgm:prSet presAssocID="{781937A0-9A29-4BB7-BCD1-A0B06C7F1782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E6F7967C-7F5C-48BC-8BC5-5D2460C76769}" type="pres">
      <dgm:prSet presAssocID="{64E21C79-C43C-4695-A652-B04792415014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1A02F577-063D-4E15-8B75-2F332CB6B510}" type="pres">
      <dgm:prSet presAssocID="{64E21C79-C43C-4695-A652-B04792415014}" presName="spNode" presStyleCnt="0"/>
      <dgm:spPr/>
    </dgm:pt>
    <dgm:pt modelId="{A3642524-00D8-45D5-A490-61ADA25B9834}" type="pres">
      <dgm:prSet presAssocID="{5F152E9B-DF66-4D2B-BA01-F1E559505D66}" presName="sibTrans" presStyleLbl="sibTrans1D1" presStyleIdx="0" presStyleCnt="4"/>
      <dgm:spPr/>
      <dgm:t>
        <a:bodyPr/>
        <a:lstStyle/>
        <a:p>
          <a:endParaRPr lang="tr-TR"/>
        </a:p>
      </dgm:t>
    </dgm:pt>
    <dgm:pt modelId="{7D4A4D57-AD82-4BC9-9BBE-741E19A03168}" type="pres">
      <dgm:prSet presAssocID="{1C250995-A3B2-47E7-B2E0-DEE343E2ACA9}" presName="node" presStyleLbl="node1" presStyleIdx="1" presStyleCnt="4" custRadScaleRad="133455" custRadScaleInc="1870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16D27A00-D1B8-4035-957E-1134396A10C7}" type="pres">
      <dgm:prSet presAssocID="{1C250995-A3B2-47E7-B2E0-DEE343E2ACA9}" presName="spNode" presStyleCnt="0"/>
      <dgm:spPr/>
    </dgm:pt>
    <dgm:pt modelId="{FE7940FC-3D26-42C4-9AB7-DB628DDC6AC3}" type="pres">
      <dgm:prSet presAssocID="{B5660079-90C8-4C80-AF5B-E30B5D446A2A}" presName="sibTrans" presStyleLbl="sibTrans1D1" presStyleIdx="1" presStyleCnt="4"/>
      <dgm:spPr/>
      <dgm:t>
        <a:bodyPr/>
        <a:lstStyle/>
        <a:p>
          <a:endParaRPr lang="tr-TR"/>
        </a:p>
      </dgm:t>
    </dgm:pt>
    <dgm:pt modelId="{0F318A6C-48B9-4BCC-94B9-AED43BE61B2F}" type="pres">
      <dgm:prSet presAssocID="{0C227E62-0196-496C-8C4D-81F9110653B7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61D765B0-75B6-4AC0-BC73-0943E68DF7F0}" type="pres">
      <dgm:prSet presAssocID="{0C227E62-0196-496C-8C4D-81F9110653B7}" presName="spNode" presStyleCnt="0"/>
      <dgm:spPr/>
    </dgm:pt>
    <dgm:pt modelId="{CB81B4BE-421F-494E-8B0B-E4B7D2D4A3F8}" type="pres">
      <dgm:prSet presAssocID="{45F5BADC-518C-4F10-96EC-A69D680B721B}" presName="sibTrans" presStyleLbl="sibTrans1D1" presStyleIdx="2" presStyleCnt="4"/>
      <dgm:spPr/>
      <dgm:t>
        <a:bodyPr/>
        <a:lstStyle/>
        <a:p>
          <a:endParaRPr lang="tr-TR"/>
        </a:p>
      </dgm:t>
    </dgm:pt>
    <dgm:pt modelId="{16FC86BC-29EC-4D42-939A-D2F1D6555250}" type="pres">
      <dgm:prSet presAssocID="{CDB743CF-33A6-44DD-A536-7B3A95A10246}" presName="node" presStyleLbl="node1" presStyleIdx="3" presStyleCnt="4" custRadScaleRad="127297" custRadScaleInc="-739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1237F7C7-83EB-48CB-8CCD-931A5F10567D}" type="pres">
      <dgm:prSet presAssocID="{CDB743CF-33A6-44DD-A536-7B3A95A10246}" presName="spNode" presStyleCnt="0"/>
      <dgm:spPr/>
    </dgm:pt>
    <dgm:pt modelId="{A5E22D6C-7E75-430F-97C1-C68F2AA75080}" type="pres">
      <dgm:prSet presAssocID="{58183FE8-BB2F-4ED8-A196-38D75B4590BA}" presName="sibTrans" presStyleLbl="sibTrans1D1" presStyleIdx="3" presStyleCnt="4"/>
      <dgm:spPr/>
      <dgm:t>
        <a:bodyPr/>
        <a:lstStyle/>
        <a:p>
          <a:endParaRPr lang="tr-TR"/>
        </a:p>
      </dgm:t>
    </dgm:pt>
  </dgm:ptLst>
  <dgm:cxnLst>
    <dgm:cxn modelId="{DADFB711-F282-4840-A958-3498D789E5FA}" srcId="{781937A0-9A29-4BB7-BCD1-A0B06C7F1782}" destId="{64E21C79-C43C-4695-A652-B04792415014}" srcOrd="0" destOrd="0" parTransId="{3C63F1FF-E391-4FB0-8FEE-7797125155EE}" sibTransId="{5F152E9B-DF66-4D2B-BA01-F1E559505D66}"/>
    <dgm:cxn modelId="{008D0C09-5534-46DE-AF0E-3CDFE69D740D}" type="presOf" srcId="{CDB743CF-33A6-44DD-A536-7B3A95A10246}" destId="{16FC86BC-29EC-4D42-939A-D2F1D6555250}" srcOrd="0" destOrd="0" presId="urn:microsoft.com/office/officeart/2005/8/layout/cycle5"/>
    <dgm:cxn modelId="{22A794E1-9B88-4302-B125-127029AD4B89}" type="presOf" srcId="{B5660079-90C8-4C80-AF5B-E30B5D446A2A}" destId="{FE7940FC-3D26-42C4-9AB7-DB628DDC6AC3}" srcOrd="0" destOrd="0" presId="urn:microsoft.com/office/officeart/2005/8/layout/cycle5"/>
    <dgm:cxn modelId="{E7023F77-A07C-49DC-A51F-B7C0932E6E86}" type="presOf" srcId="{781937A0-9A29-4BB7-BCD1-A0B06C7F1782}" destId="{78FCE836-9672-47D7-A8D4-216F358D700C}" srcOrd="0" destOrd="0" presId="urn:microsoft.com/office/officeart/2005/8/layout/cycle5"/>
    <dgm:cxn modelId="{82160735-CCBF-4CCE-AED8-F2B7A39CA754}" type="presOf" srcId="{64E21C79-C43C-4695-A652-B04792415014}" destId="{E6F7967C-7F5C-48BC-8BC5-5D2460C76769}" srcOrd="0" destOrd="0" presId="urn:microsoft.com/office/officeart/2005/8/layout/cycle5"/>
    <dgm:cxn modelId="{A39C2207-9FBF-4B6B-B080-40721377186A}" type="presOf" srcId="{5F152E9B-DF66-4D2B-BA01-F1E559505D66}" destId="{A3642524-00D8-45D5-A490-61ADA25B9834}" srcOrd="0" destOrd="0" presId="urn:microsoft.com/office/officeart/2005/8/layout/cycle5"/>
    <dgm:cxn modelId="{B70C7844-A6E0-4B19-8CCA-08E5011F99F6}" type="presOf" srcId="{1C250995-A3B2-47E7-B2E0-DEE343E2ACA9}" destId="{7D4A4D57-AD82-4BC9-9BBE-741E19A03168}" srcOrd="0" destOrd="0" presId="urn:microsoft.com/office/officeart/2005/8/layout/cycle5"/>
    <dgm:cxn modelId="{19750F4D-2D2A-4E7A-AB80-FC1BEE9B9F65}" srcId="{781937A0-9A29-4BB7-BCD1-A0B06C7F1782}" destId="{CDB743CF-33A6-44DD-A536-7B3A95A10246}" srcOrd="3" destOrd="0" parTransId="{93BB8AD8-28BF-4396-B123-85D0BCFBBC33}" sibTransId="{58183FE8-BB2F-4ED8-A196-38D75B4590BA}"/>
    <dgm:cxn modelId="{29CD8109-75DF-4461-8456-5FBFFA92E53A}" srcId="{781937A0-9A29-4BB7-BCD1-A0B06C7F1782}" destId="{0C227E62-0196-496C-8C4D-81F9110653B7}" srcOrd="2" destOrd="0" parTransId="{53999E35-4620-4E59-9AA8-3FB39662E6C2}" sibTransId="{45F5BADC-518C-4F10-96EC-A69D680B721B}"/>
    <dgm:cxn modelId="{6D36988C-464B-4DAA-8DF6-BD9C97C077FE}" type="presOf" srcId="{58183FE8-BB2F-4ED8-A196-38D75B4590BA}" destId="{A5E22D6C-7E75-430F-97C1-C68F2AA75080}" srcOrd="0" destOrd="0" presId="urn:microsoft.com/office/officeart/2005/8/layout/cycle5"/>
    <dgm:cxn modelId="{959D8A7B-59DD-435F-969E-6655CBD369A7}" srcId="{781937A0-9A29-4BB7-BCD1-A0B06C7F1782}" destId="{1C250995-A3B2-47E7-B2E0-DEE343E2ACA9}" srcOrd="1" destOrd="0" parTransId="{963CA02B-6501-4880-8A22-2D088F4EE2A6}" sibTransId="{B5660079-90C8-4C80-AF5B-E30B5D446A2A}"/>
    <dgm:cxn modelId="{9D3980AF-A9EB-4A94-9AB8-5CC4487AF1C6}" type="presOf" srcId="{0C227E62-0196-496C-8C4D-81F9110653B7}" destId="{0F318A6C-48B9-4BCC-94B9-AED43BE61B2F}" srcOrd="0" destOrd="0" presId="urn:microsoft.com/office/officeart/2005/8/layout/cycle5"/>
    <dgm:cxn modelId="{C64DB943-F8F2-4B63-8A83-D2C262B27EE7}" type="presOf" srcId="{45F5BADC-518C-4F10-96EC-A69D680B721B}" destId="{CB81B4BE-421F-494E-8B0B-E4B7D2D4A3F8}" srcOrd="0" destOrd="0" presId="urn:microsoft.com/office/officeart/2005/8/layout/cycle5"/>
    <dgm:cxn modelId="{E4EB0D21-ECF2-4E01-84CE-CC4FCFE58837}" type="presParOf" srcId="{78FCE836-9672-47D7-A8D4-216F358D700C}" destId="{E6F7967C-7F5C-48BC-8BC5-5D2460C76769}" srcOrd="0" destOrd="0" presId="urn:microsoft.com/office/officeart/2005/8/layout/cycle5"/>
    <dgm:cxn modelId="{A3267CEB-85B1-48DF-8C22-D6CB4DDD12CE}" type="presParOf" srcId="{78FCE836-9672-47D7-A8D4-216F358D700C}" destId="{1A02F577-063D-4E15-8B75-2F332CB6B510}" srcOrd="1" destOrd="0" presId="urn:microsoft.com/office/officeart/2005/8/layout/cycle5"/>
    <dgm:cxn modelId="{84F9F68A-4951-40ED-86F0-B755C35EE640}" type="presParOf" srcId="{78FCE836-9672-47D7-A8D4-216F358D700C}" destId="{A3642524-00D8-45D5-A490-61ADA25B9834}" srcOrd="2" destOrd="0" presId="urn:microsoft.com/office/officeart/2005/8/layout/cycle5"/>
    <dgm:cxn modelId="{5A6E06CA-13A3-4D62-B35A-393EB445DD05}" type="presParOf" srcId="{78FCE836-9672-47D7-A8D4-216F358D700C}" destId="{7D4A4D57-AD82-4BC9-9BBE-741E19A03168}" srcOrd="3" destOrd="0" presId="urn:microsoft.com/office/officeart/2005/8/layout/cycle5"/>
    <dgm:cxn modelId="{CF09BCAC-12FB-4138-9EF4-FB89770E1731}" type="presParOf" srcId="{78FCE836-9672-47D7-A8D4-216F358D700C}" destId="{16D27A00-D1B8-4035-957E-1134396A10C7}" srcOrd="4" destOrd="0" presId="urn:microsoft.com/office/officeart/2005/8/layout/cycle5"/>
    <dgm:cxn modelId="{3CF3F63E-C81F-4CDF-B686-D1B9A665F790}" type="presParOf" srcId="{78FCE836-9672-47D7-A8D4-216F358D700C}" destId="{FE7940FC-3D26-42C4-9AB7-DB628DDC6AC3}" srcOrd="5" destOrd="0" presId="urn:microsoft.com/office/officeart/2005/8/layout/cycle5"/>
    <dgm:cxn modelId="{26BE11C0-98FB-4C66-A5F1-DCC6609BD046}" type="presParOf" srcId="{78FCE836-9672-47D7-A8D4-216F358D700C}" destId="{0F318A6C-48B9-4BCC-94B9-AED43BE61B2F}" srcOrd="6" destOrd="0" presId="urn:microsoft.com/office/officeart/2005/8/layout/cycle5"/>
    <dgm:cxn modelId="{1013F620-D497-457C-B23A-7244174D65D3}" type="presParOf" srcId="{78FCE836-9672-47D7-A8D4-216F358D700C}" destId="{61D765B0-75B6-4AC0-BC73-0943E68DF7F0}" srcOrd="7" destOrd="0" presId="urn:microsoft.com/office/officeart/2005/8/layout/cycle5"/>
    <dgm:cxn modelId="{F7A59EEF-7EC9-42E8-88B6-6927568EA294}" type="presParOf" srcId="{78FCE836-9672-47D7-A8D4-216F358D700C}" destId="{CB81B4BE-421F-494E-8B0B-E4B7D2D4A3F8}" srcOrd="8" destOrd="0" presId="urn:microsoft.com/office/officeart/2005/8/layout/cycle5"/>
    <dgm:cxn modelId="{728E21A2-D8F7-4517-9F29-1B170C3E9C4D}" type="presParOf" srcId="{78FCE836-9672-47D7-A8D4-216F358D700C}" destId="{16FC86BC-29EC-4D42-939A-D2F1D6555250}" srcOrd="9" destOrd="0" presId="urn:microsoft.com/office/officeart/2005/8/layout/cycle5"/>
    <dgm:cxn modelId="{1160AC11-7757-4016-B668-05651760FC82}" type="presParOf" srcId="{78FCE836-9672-47D7-A8D4-216F358D700C}" destId="{1237F7C7-83EB-48CB-8CCD-931A5F10567D}" srcOrd="10" destOrd="0" presId="urn:microsoft.com/office/officeart/2005/8/layout/cycle5"/>
    <dgm:cxn modelId="{1022852B-24AA-4142-B8E0-DDB1867DCA4D}" type="presParOf" srcId="{78FCE836-9672-47D7-A8D4-216F358D700C}" destId="{A5E22D6C-7E75-430F-97C1-C68F2AA75080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6F7967C-7F5C-48BC-8BC5-5D2460C76769}">
      <dsp:nvSpPr>
        <dsp:cNvPr id="0" name=""/>
        <dsp:cNvSpPr/>
      </dsp:nvSpPr>
      <dsp:spPr>
        <a:xfrm>
          <a:off x="3188568" y="1143"/>
          <a:ext cx="1852463" cy="120410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noProof="0" smtClean="0"/>
            <a:t>CNS agitation</a:t>
          </a:r>
          <a:endParaRPr lang="en-US" sz="2400" b="1" kern="1200" noProof="0"/>
        </a:p>
      </dsp:txBody>
      <dsp:txXfrm>
        <a:off x="3188568" y="1143"/>
        <a:ext cx="1852463" cy="1204101"/>
      </dsp:txXfrm>
    </dsp:sp>
    <dsp:sp modelId="{A3642524-00D8-45D5-A490-61ADA25B9834}">
      <dsp:nvSpPr>
        <dsp:cNvPr id="0" name=""/>
        <dsp:cNvSpPr/>
      </dsp:nvSpPr>
      <dsp:spPr>
        <a:xfrm>
          <a:off x="2895295" y="825829"/>
          <a:ext cx="3978187" cy="3978187"/>
        </a:xfrm>
        <a:custGeom>
          <a:avLst/>
          <a:gdLst/>
          <a:ahLst/>
          <a:cxnLst/>
          <a:rect l="0" t="0" r="0" b="0"/>
          <a:pathLst>
            <a:path>
              <a:moveTo>
                <a:pt x="2546959" y="79832"/>
              </a:moveTo>
              <a:arcTo wR="1989093" hR="1989093" stAng="17177267" swAng="2296012"/>
            </a:path>
          </a:pathLst>
        </a:custGeom>
        <a:noFill/>
        <a:ln w="76200" cap="flat" cmpd="sng" algn="ctr">
          <a:solidFill>
            <a:schemeClr val="accent2">
              <a:lumMod val="5000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A4D57-AD82-4BC9-9BBE-741E19A03168}">
      <dsp:nvSpPr>
        <dsp:cNvPr id="0" name=""/>
        <dsp:cNvSpPr/>
      </dsp:nvSpPr>
      <dsp:spPr>
        <a:xfrm>
          <a:off x="5842985" y="2016228"/>
          <a:ext cx="1852463" cy="120410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noProof="0" dirty="0" smtClean="0"/>
            <a:t>Increased neuronal fl</a:t>
          </a:r>
          <a:r>
            <a:rPr lang="tr-TR" sz="2400" b="1" kern="1200" noProof="0" dirty="0" smtClean="0"/>
            <a:t>a</a:t>
          </a:r>
          <a:r>
            <a:rPr lang="en-US" sz="2400" b="1" kern="1200" noProof="0" dirty="0" smtClean="0"/>
            <a:t>ring</a:t>
          </a:r>
        </a:p>
      </dsp:txBody>
      <dsp:txXfrm>
        <a:off x="5842985" y="2016228"/>
        <a:ext cx="1852463" cy="1204101"/>
      </dsp:txXfrm>
    </dsp:sp>
    <dsp:sp modelId="{FE7940FC-3D26-42C4-9AB7-DB628DDC6AC3}">
      <dsp:nvSpPr>
        <dsp:cNvPr id="0" name=""/>
        <dsp:cNvSpPr/>
      </dsp:nvSpPr>
      <dsp:spPr>
        <a:xfrm>
          <a:off x="2907308" y="379646"/>
          <a:ext cx="3978187" cy="3978187"/>
        </a:xfrm>
        <a:custGeom>
          <a:avLst/>
          <a:gdLst/>
          <a:ahLst/>
          <a:cxnLst/>
          <a:rect l="0" t="0" r="0" b="0"/>
          <a:pathLst>
            <a:path>
              <a:moveTo>
                <a:pt x="3579922" y="3183145"/>
              </a:moveTo>
              <a:arcTo wR="1989093" hR="1989093" stAng="2213480" swAng="2243790"/>
            </a:path>
          </a:pathLst>
        </a:custGeom>
        <a:noFill/>
        <a:ln w="76200" cap="flat" cmpd="sng" algn="ctr">
          <a:solidFill>
            <a:schemeClr val="accent2">
              <a:lumMod val="5000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318A6C-48B9-4BCC-94B9-AED43BE61B2F}">
      <dsp:nvSpPr>
        <dsp:cNvPr id="0" name=""/>
        <dsp:cNvSpPr/>
      </dsp:nvSpPr>
      <dsp:spPr>
        <a:xfrm>
          <a:off x="3188568" y="3979331"/>
          <a:ext cx="1852463" cy="120410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noProof="0" smtClean="0"/>
            <a:t>Reuptake blockage</a:t>
          </a:r>
        </a:p>
      </dsp:txBody>
      <dsp:txXfrm>
        <a:off x="3188568" y="3979331"/>
        <a:ext cx="1852463" cy="1204101"/>
      </dsp:txXfrm>
    </dsp:sp>
    <dsp:sp modelId="{CB81B4BE-421F-494E-8B0B-E4B7D2D4A3F8}">
      <dsp:nvSpPr>
        <dsp:cNvPr id="0" name=""/>
        <dsp:cNvSpPr/>
      </dsp:nvSpPr>
      <dsp:spPr>
        <a:xfrm>
          <a:off x="1460198" y="391542"/>
          <a:ext cx="3978187" cy="3978187"/>
        </a:xfrm>
        <a:custGeom>
          <a:avLst/>
          <a:gdLst/>
          <a:ahLst/>
          <a:cxnLst/>
          <a:rect l="0" t="0" r="0" b="0"/>
          <a:pathLst>
            <a:path>
              <a:moveTo>
                <a:pt x="1369558" y="3879244"/>
              </a:moveTo>
              <a:arcTo wR="1989093" hR="1989093" stAng="6488857" swAng="2037371"/>
            </a:path>
          </a:pathLst>
        </a:custGeom>
        <a:noFill/>
        <a:ln w="76200" cap="flat" cmpd="sng" algn="ctr">
          <a:solidFill>
            <a:schemeClr val="accent2">
              <a:lumMod val="5000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FC86BC-29EC-4D42-939A-D2F1D6555250}">
      <dsp:nvSpPr>
        <dsp:cNvPr id="0" name=""/>
        <dsp:cNvSpPr/>
      </dsp:nvSpPr>
      <dsp:spPr>
        <a:xfrm>
          <a:off x="658408" y="2088227"/>
          <a:ext cx="1852463" cy="120410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noProof="0" smtClean="0"/>
            <a:t>Exaggerated sympathetic response</a:t>
          </a:r>
          <a:endParaRPr lang="en-US" sz="2400" b="1" kern="1200" noProof="0"/>
        </a:p>
      </dsp:txBody>
      <dsp:txXfrm>
        <a:off x="658408" y="2088227"/>
        <a:ext cx="1852463" cy="1204101"/>
      </dsp:txXfrm>
    </dsp:sp>
    <dsp:sp modelId="{A5E22D6C-7E75-430F-97C1-C68F2AA75080}">
      <dsp:nvSpPr>
        <dsp:cNvPr id="0" name=""/>
        <dsp:cNvSpPr/>
      </dsp:nvSpPr>
      <dsp:spPr>
        <a:xfrm>
          <a:off x="1502523" y="808786"/>
          <a:ext cx="3978187" cy="3978187"/>
        </a:xfrm>
        <a:custGeom>
          <a:avLst/>
          <a:gdLst/>
          <a:ahLst/>
          <a:cxnLst/>
          <a:rect l="0" t="0" r="0" b="0"/>
          <a:pathLst>
            <a:path>
              <a:moveTo>
                <a:pt x="310001" y="922724"/>
              </a:moveTo>
              <a:arcTo wR="1989093" hR="1989093" stAng="12745146" swAng="2238025"/>
            </a:path>
          </a:pathLst>
        </a:custGeom>
        <a:noFill/>
        <a:ln w="76200" cap="flat" cmpd="sng" algn="ctr">
          <a:solidFill>
            <a:schemeClr val="accent2">
              <a:lumMod val="50000"/>
            </a:schemeClr>
          </a:solidFill>
          <a:prstDash val="solid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45FD6-7C5B-4273-93B9-AE4EFC3D261B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939A1-D60C-4E3E-8275-040303FC1578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2</a:t>
            </a:fld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b="1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4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5</a:t>
            </a:fld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 smtClean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6</a:t>
            </a:fld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b="1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7</a:t>
            </a:fld>
            <a:endParaRPr 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10</a:t>
            </a:fld>
            <a:endParaRPr 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11</a:t>
            </a:fld>
            <a:endParaRPr 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tr-T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12</a:t>
            </a:fld>
            <a:endParaRPr 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13</a:t>
            </a:fld>
            <a:endParaRPr lang="tr-T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 smtClean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15</a:t>
            </a:fld>
            <a:endParaRPr 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16</a:t>
            </a:fld>
            <a:endParaRPr 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17</a:t>
            </a:fld>
            <a:endParaRPr 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18</a:t>
            </a:fld>
            <a:endParaRPr 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19</a:t>
            </a:fld>
            <a:endParaRPr 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939A1-D60C-4E3E-8275-040303FC1578}" type="slidenum">
              <a:rPr lang="tr-TR" smtClean="0"/>
              <a:pPr/>
              <a:t>20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CABAB-9C6D-4C6A-8623-E26FF4351FDC}" type="datetimeFigureOut">
              <a:rPr lang="tr-TR" smtClean="0"/>
              <a:pPr/>
              <a:t>28.06.2013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B2DA5-C96F-4EEE-BF96-CA6C9DA81E3E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HYPERTENSION </a:t>
            </a:r>
            <a:r>
              <a:rPr lang="tr-TR" b="1" dirty="0"/>
              <a:t>I</a:t>
            </a:r>
            <a:r>
              <a:rPr lang="tr-TR" b="1" dirty="0" smtClean="0"/>
              <a:t>N INTOXICATIONS</a:t>
            </a:r>
            <a:endParaRPr lang="tr-TR" b="1" dirty="0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800" b="1" dirty="0" smtClean="0"/>
              <a:t>Fatih </a:t>
            </a:r>
            <a:r>
              <a:rPr lang="en-US" sz="3800" b="1" dirty="0" err="1" smtClean="0"/>
              <a:t>Büyükcam</a:t>
            </a:r>
            <a:r>
              <a:rPr lang="en-US" sz="3800" b="1" dirty="0" smtClean="0"/>
              <a:t>, MD</a:t>
            </a:r>
          </a:p>
          <a:p>
            <a:r>
              <a:rPr lang="en-US" dirty="0" smtClean="0"/>
              <a:t>Department of Emergency Medicine</a:t>
            </a:r>
          </a:p>
          <a:p>
            <a:r>
              <a:rPr lang="en-US" dirty="0" err="1" smtClean="0"/>
              <a:t>Dışkapı</a:t>
            </a:r>
            <a:r>
              <a:rPr lang="en-US" dirty="0" smtClean="0"/>
              <a:t> </a:t>
            </a:r>
            <a:r>
              <a:rPr lang="en-US" dirty="0" err="1" smtClean="0"/>
              <a:t>Yıldırım</a:t>
            </a:r>
            <a:r>
              <a:rPr lang="en-US" dirty="0" smtClean="0"/>
              <a:t> </a:t>
            </a:r>
            <a:r>
              <a:rPr lang="en-US" dirty="0" err="1" smtClean="0"/>
              <a:t>Beyazıt</a:t>
            </a:r>
            <a:endParaRPr lang="en-US" dirty="0" smtClean="0"/>
          </a:p>
          <a:p>
            <a:r>
              <a:rPr lang="en-US" dirty="0" smtClean="0"/>
              <a:t>Education &amp; Research Hospital</a:t>
            </a:r>
          </a:p>
          <a:p>
            <a:r>
              <a:rPr lang="en-US" dirty="0" smtClean="0"/>
              <a:t>Ankara, Turkey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 smtClean="0"/>
              <a:t>General principles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Common </a:t>
            </a:r>
            <a:r>
              <a:rPr lang="en-US" dirty="0" err="1" smtClean="0"/>
              <a:t>xenobiotics</a:t>
            </a:r>
            <a:r>
              <a:rPr lang="en-US" dirty="0" smtClean="0"/>
              <a:t> that increase blood pressure</a:t>
            </a:r>
          </a:p>
          <a:p>
            <a:pPr>
              <a:lnSpc>
                <a:spcPct val="160000"/>
              </a:lnSpc>
            </a:pPr>
            <a:r>
              <a:rPr lang="tr-TR" dirty="0" err="1" smtClean="0"/>
              <a:t>Some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ag</a:t>
            </a:r>
            <a:r>
              <a:rPr lang="en-US" dirty="0" err="1" smtClean="0"/>
              <a:t>ents</a:t>
            </a:r>
            <a:r>
              <a:rPr lang="en-US" dirty="0" smtClean="0"/>
              <a:t> causing hypertension in intoxications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Hypertension in treatment of intoxication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Hypertension in intoxications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Agitation</a:t>
            </a:r>
          </a:p>
          <a:p>
            <a:r>
              <a:rPr lang="en-US" dirty="0" smtClean="0"/>
              <a:t>Headache</a:t>
            </a:r>
          </a:p>
          <a:p>
            <a:r>
              <a:rPr lang="en-US" dirty="0" smtClean="0"/>
              <a:t>Nausea &amp; </a:t>
            </a:r>
            <a:r>
              <a:rPr lang="en-US" dirty="0" err="1" smtClean="0"/>
              <a:t>vomitting</a:t>
            </a:r>
            <a:endParaRPr lang="en-US" dirty="0" smtClean="0"/>
          </a:p>
          <a:p>
            <a:r>
              <a:rPr lang="en-US" dirty="0" smtClean="0"/>
              <a:t>Fever</a:t>
            </a:r>
          </a:p>
          <a:p>
            <a:r>
              <a:rPr lang="en-US" dirty="0" smtClean="0"/>
              <a:t>Intracranial hemorrhage</a:t>
            </a:r>
          </a:p>
          <a:p>
            <a:r>
              <a:rPr lang="en-US" dirty="0" smtClean="0"/>
              <a:t>Pulmonary </a:t>
            </a:r>
            <a:r>
              <a:rPr lang="en-US" dirty="0" smtClean="0"/>
              <a:t>hypertension</a:t>
            </a:r>
            <a:endParaRPr lang="en-US" dirty="0" smtClean="0"/>
          </a:p>
          <a:p>
            <a:r>
              <a:rPr lang="en-US" dirty="0" smtClean="0"/>
              <a:t>Aortic dissection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Common xenobiotics that increase blood pressure</a:t>
            </a:r>
            <a:endParaRPr lang="en-US" b="1"/>
          </a:p>
        </p:txBody>
      </p:sp>
      <p:sp>
        <p:nvSpPr>
          <p:cNvPr id="4" name="3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Direct </a:t>
            </a:r>
            <a:r>
              <a:rPr lang="tr-TR" dirty="0" err="1" smtClean="0"/>
              <a:t>acting</a:t>
            </a:r>
            <a:r>
              <a:rPr lang="tr-TR" dirty="0" smtClean="0"/>
              <a:t> </a:t>
            </a:r>
            <a:r>
              <a:rPr lang="en-US" dirty="0" smtClean="0"/>
              <a:t>alpha-agonists</a:t>
            </a:r>
          </a:p>
          <a:p>
            <a:pPr lvl="2"/>
            <a:r>
              <a:rPr lang="en-US" dirty="0" err="1" smtClean="0"/>
              <a:t>Clonidine</a:t>
            </a:r>
            <a:r>
              <a:rPr lang="en-US" dirty="0" smtClean="0"/>
              <a:t>, epinephrine, </a:t>
            </a:r>
            <a:r>
              <a:rPr lang="en-US" dirty="0" err="1" smtClean="0"/>
              <a:t>ergotamines</a:t>
            </a:r>
            <a:r>
              <a:rPr lang="en-US" dirty="0" smtClean="0"/>
              <a:t>, </a:t>
            </a:r>
            <a:r>
              <a:rPr lang="en-US" dirty="0" err="1" smtClean="0"/>
              <a:t>methoxamine</a:t>
            </a:r>
            <a:r>
              <a:rPr lang="en-US" dirty="0" smtClean="0"/>
              <a:t>, </a:t>
            </a:r>
            <a:r>
              <a:rPr lang="en-US" dirty="0" err="1" smtClean="0"/>
              <a:t>norepinephrine</a:t>
            </a:r>
            <a:r>
              <a:rPr lang="en-US" dirty="0" smtClean="0"/>
              <a:t>, </a:t>
            </a:r>
            <a:r>
              <a:rPr lang="en-US" dirty="0" err="1" smtClean="0"/>
              <a:t>phenylephrine</a:t>
            </a:r>
            <a:r>
              <a:rPr lang="en-US" dirty="0" smtClean="0"/>
              <a:t>, </a:t>
            </a:r>
            <a:r>
              <a:rPr lang="en-US" dirty="0" err="1" smtClean="0"/>
              <a:t>tetrahydrozoline</a:t>
            </a:r>
            <a:endParaRPr lang="en-US" dirty="0" smtClean="0"/>
          </a:p>
          <a:p>
            <a:r>
              <a:rPr lang="en-US" dirty="0" smtClean="0"/>
              <a:t>Indirect acting alpha-agonists</a:t>
            </a:r>
          </a:p>
          <a:p>
            <a:pPr lvl="2"/>
            <a:r>
              <a:rPr lang="en-US" dirty="0" smtClean="0"/>
              <a:t>Amphetamine, cocaine, </a:t>
            </a:r>
            <a:r>
              <a:rPr lang="tr-TR" dirty="0" err="1" smtClean="0"/>
              <a:t>nicotine</a:t>
            </a:r>
            <a:r>
              <a:rPr lang="tr-TR" dirty="0" smtClean="0"/>
              <a:t>, </a:t>
            </a:r>
            <a:r>
              <a:rPr lang="tr-TR" dirty="0" err="1" smtClean="0"/>
              <a:t>caffeine</a:t>
            </a:r>
            <a:r>
              <a:rPr lang="tr-TR" dirty="0" smtClean="0"/>
              <a:t>, </a:t>
            </a:r>
            <a:r>
              <a:rPr lang="tr-TR" dirty="0" err="1" smtClean="0"/>
              <a:t>tyramine</a:t>
            </a:r>
            <a:r>
              <a:rPr lang="tr-TR" dirty="0" smtClean="0"/>
              <a:t>, </a:t>
            </a:r>
            <a:endParaRPr lang="en-US" dirty="0" smtClean="0"/>
          </a:p>
          <a:p>
            <a:r>
              <a:rPr lang="tr-TR" dirty="0" err="1" smtClean="0"/>
              <a:t>Mixed</a:t>
            </a:r>
            <a:r>
              <a:rPr lang="tr-TR" dirty="0" smtClean="0"/>
              <a:t> </a:t>
            </a:r>
            <a:r>
              <a:rPr lang="en-US" dirty="0" smtClean="0"/>
              <a:t>acting </a:t>
            </a:r>
            <a:r>
              <a:rPr lang="tr-TR" dirty="0" err="1" smtClean="0"/>
              <a:t>alpha</a:t>
            </a:r>
            <a:r>
              <a:rPr lang="tr-TR" dirty="0" smtClean="0"/>
              <a:t>-</a:t>
            </a:r>
            <a:r>
              <a:rPr lang="en-US" dirty="0" smtClean="0"/>
              <a:t>agonists</a:t>
            </a:r>
          </a:p>
          <a:p>
            <a:pPr lvl="2"/>
            <a:r>
              <a:rPr lang="en-US" dirty="0" smtClean="0"/>
              <a:t>Dopamine, ephedrine, </a:t>
            </a:r>
            <a:r>
              <a:rPr lang="en-US" dirty="0" err="1" smtClean="0"/>
              <a:t>pseudoephedrin</a:t>
            </a:r>
            <a:r>
              <a:rPr lang="tr-TR" dirty="0" smtClean="0"/>
              <a:t>, d</a:t>
            </a:r>
            <a:r>
              <a:rPr lang="en-US" dirty="0" err="1" smtClean="0"/>
              <a:t>eoxymetazoline</a:t>
            </a:r>
            <a:r>
              <a:rPr lang="en-US" dirty="0" smtClean="0"/>
              <a:t>, </a:t>
            </a:r>
            <a:r>
              <a:rPr lang="en-US" dirty="0" err="1" smtClean="0"/>
              <a:t>metaraminol</a:t>
            </a:r>
            <a:r>
              <a:rPr lang="en-US" dirty="0" smtClean="0"/>
              <a:t>, </a:t>
            </a:r>
            <a:r>
              <a:rPr lang="en-US" dirty="0" err="1" smtClean="0"/>
              <a:t>naphazoline</a:t>
            </a:r>
            <a:r>
              <a:rPr lang="en-US" dirty="0" smtClean="0"/>
              <a:t>, </a:t>
            </a:r>
            <a:r>
              <a:rPr lang="en-US" dirty="0" err="1" smtClean="0"/>
              <a:t>phenylpropanolamine</a:t>
            </a:r>
            <a:r>
              <a:rPr lang="en-US" dirty="0" smtClean="0"/>
              <a:t>,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Common xenobiotics that increase blood pressure</a:t>
            </a:r>
            <a:endParaRPr lang="en-US" b="1"/>
          </a:p>
        </p:txBody>
      </p:sp>
      <p:sp>
        <p:nvSpPr>
          <p:cNvPr id="4" name="3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Monoamine </a:t>
            </a:r>
            <a:r>
              <a:rPr lang="en-US" dirty="0" err="1" smtClean="0"/>
              <a:t>Oxidase</a:t>
            </a:r>
            <a:r>
              <a:rPr lang="en-US" dirty="0" smtClean="0"/>
              <a:t> Inhibitors</a:t>
            </a:r>
          </a:p>
          <a:p>
            <a:pPr lvl="2"/>
            <a:r>
              <a:rPr lang="en-US" dirty="0" smtClean="0"/>
              <a:t>Phencyclidine</a:t>
            </a:r>
          </a:p>
          <a:p>
            <a:pPr lvl="2"/>
            <a:r>
              <a:rPr lang="en-US" dirty="0" err="1" smtClean="0"/>
              <a:t>Yohimbine</a:t>
            </a:r>
            <a:endParaRPr lang="tr-TR" dirty="0" smtClean="0"/>
          </a:p>
          <a:p>
            <a:r>
              <a:rPr lang="en-US" dirty="0" smtClean="0"/>
              <a:t>Beta-adrenergic agonists</a:t>
            </a:r>
          </a:p>
          <a:p>
            <a:pPr lvl="2"/>
            <a:r>
              <a:rPr lang="en-US" dirty="0" err="1" smtClean="0"/>
              <a:t>Isoproterenol</a:t>
            </a:r>
            <a:endParaRPr lang="en-US" dirty="0" smtClean="0"/>
          </a:p>
          <a:p>
            <a:r>
              <a:rPr lang="en-US" dirty="0" err="1" smtClean="0"/>
              <a:t>Cholinergics</a:t>
            </a:r>
            <a:endParaRPr lang="en-US" dirty="0" smtClean="0"/>
          </a:p>
          <a:p>
            <a:r>
              <a:rPr lang="en-US" dirty="0" smtClean="0"/>
              <a:t>Corticosteroids</a:t>
            </a:r>
          </a:p>
          <a:p>
            <a:r>
              <a:rPr lang="en-US" dirty="0" smtClean="0"/>
              <a:t>Vasopressin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MAO Inhibitor overdose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Hypertensive crisis</a:t>
            </a:r>
          </a:p>
          <a:p>
            <a:r>
              <a:rPr lang="en-US" smtClean="0"/>
              <a:t>Irritability</a:t>
            </a:r>
          </a:p>
          <a:p>
            <a:r>
              <a:rPr lang="en-US" smtClean="0"/>
              <a:t>Anxiety</a:t>
            </a:r>
          </a:p>
          <a:p>
            <a:r>
              <a:rPr lang="en-US" smtClean="0"/>
              <a:t>Flushing</a:t>
            </a:r>
          </a:p>
          <a:p>
            <a:r>
              <a:rPr lang="en-US" smtClean="0"/>
              <a:t>Diaphoresis</a:t>
            </a:r>
          </a:p>
          <a:p>
            <a:r>
              <a:rPr lang="en-US" smtClean="0"/>
              <a:t>Tachyardia</a:t>
            </a:r>
          </a:p>
          <a:p>
            <a:r>
              <a:rPr lang="en-US" smtClean="0"/>
              <a:t>Headache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MAO Inhibitor overdose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</a:p>
          <a:p>
            <a:pPr lvl="1"/>
            <a:r>
              <a:rPr lang="en-US" dirty="0" smtClean="0"/>
              <a:t>Sodium nitroprusside</a:t>
            </a:r>
          </a:p>
          <a:p>
            <a:pPr lvl="1"/>
            <a:r>
              <a:rPr lang="en-US" dirty="0" smtClean="0"/>
              <a:t>Nitroglycerin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Beta-adrenergic antagonists are avoided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Amphetamine overdose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Tachycardia</a:t>
            </a:r>
          </a:p>
          <a:p>
            <a:r>
              <a:rPr lang="en-US" dirty="0" smtClean="0"/>
              <a:t>Hypertension</a:t>
            </a:r>
          </a:p>
          <a:p>
            <a:r>
              <a:rPr lang="en-US" dirty="0" err="1" smtClean="0"/>
              <a:t>Hypertermia</a:t>
            </a:r>
            <a:endParaRPr lang="en-US" dirty="0" smtClean="0"/>
          </a:p>
          <a:p>
            <a:r>
              <a:rPr lang="en-US" dirty="0" err="1" smtClean="0"/>
              <a:t>Dysrhythmia</a:t>
            </a:r>
            <a:endParaRPr lang="en-US" dirty="0" smtClean="0"/>
          </a:p>
          <a:p>
            <a:r>
              <a:rPr lang="en-US" dirty="0" err="1" smtClean="0"/>
              <a:t>Intracerebral</a:t>
            </a:r>
            <a:r>
              <a:rPr lang="en-US" dirty="0" smtClean="0"/>
              <a:t> hemorrhage</a:t>
            </a:r>
          </a:p>
          <a:p>
            <a:r>
              <a:rPr lang="en-US" dirty="0" smtClean="0"/>
              <a:t>Myocardial ischemia and infarction</a:t>
            </a:r>
          </a:p>
          <a:p>
            <a:r>
              <a:rPr lang="en-US" dirty="0" smtClean="0"/>
              <a:t>Aortic dissection</a:t>
            </a:r>
          </a:p>
          <a:p>
            <a:r>
              <a:rPr lang="en-US" dirty="0" smtClean="0"/>
              <a:t>Acute lung injury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Amphetamine overdose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</a:p>
          <a:p>
            <a:pPr lvl="1"/>
            <a:r>
              <a:rPr lang="en-US" dirty="0" smtClean="0"/>
              <a:t>Control of agitation</a:t>
            </a:r>
          </a:p>
          <a:p>
            <a:pPr lvl="1"/>
            <a:r>
              <a:rPr lang="en-US" dirty="0" smtClean="0"/>
              <a:t>Alpha-adrenergic receptor antagonist</a:t>
            </a:r>
          </a:p>
          <a:p>
            <a:pPr lvl="2"/>
            <a:r>
              <a:rPr lang="en-US" dirty="0" err="1" smtClean="0"/>
              <a:t>Phentolamine</a:t>
            </a:r>
            <a:endParaRPr lang="en-US" dirty="0" smtClean="0"/>
          </a:p>
          <a:p>
            <a:pPr lvl="1"/>
            <a:r>
              <a:rPr lang="en-US" dirty="0" smtClean="0"/>
              <a:t>Vasodilator</a:t>
            </a:r>
          </a:p>
          <a:p>
            <a:pPr lvl="2"/>
            <a:r>
              <a:rPr lang="en-US" dirty="0" err="1" smtClean="0"/>
              <a:t>Nitroprusside</a:t>
            </a:r>
            <a:endParaRPr lang="en-US" dirty="0" smtClean="0"/>
          </a:p>
          <a:p>
            <a:pPr lvl="2"/>
            <a:r>
              <a:rPr lang="en-US" dirty="0" smtClean="0"/>
              <a:t>Nitroglycerin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Cocaine overdose</a:t>
            </a:r>
            <a:endParaRPr lang="en-US" b="1"/>
          </a:p>
        </p:txBody>
      </p:sp>
      <p:graphicFrame>
        <p:nvGraphicFramePr>
          <p:cNvPr id="4" name="3 İçerik Yer Tutucusu"/>
          <p:cNvGraphicFramePr>
            <a:graphicFrameLocks noGrp="1"/>
          </p:cNvGraphicFramePr>
          <p:nvPr>
            <p:ph idx="1"/>
          </p:nvPr>
        </p:nvGraphicFramePr>
        <p:xfrm>
          <a:off x="457200" y="1340768"/>
          <a:ext cx="8229600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4 Yuvarlatılmış Dikdörtgen"/>
          <p:cNvSpPr/>
          <p:nvPr/>
        </p:nvSpPr>
        <p:spPr>
          <a:xfrm>
            <a:off x="3275856" y="2996952"/>
            <a:ext cx="2664296" cy="187220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smtClean="0"/>
              <a:t>Sedation</a:t>
            </a:r>
            <a:endParaRPr lang="en-US" sz="4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Cocaine overdose</a:t>
            </a:r>
            <a:br>
              <a:rPr lang="en-US" b="1" smtClean="0"/>
            </a:br>
            <a:r>
              <a:rPr lang="en-US" b="1" smtClean="0"/>
              <a:t>Persistant Hypertension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</a:p>
          <a:p>
            <a:pPr lvl="1"/>
            <a:r>
              <a:rPr lang="en-US" dirty="0" smtClean="0"/>
              <a:t>Direct acting vasodilator</a:t>
            </a:r>
          </a:p>
          <a:p>
            <a:pPr lvl="2"/>
            <a:r>
              <a:rPr lang="en-US" dirty="0" smtClean="0"/>
              <a:t>Nitroglycerin</a:t>
            </a:r>
          </a:p>
          <a:p>
            <a:pPr lvl="2"/>
            <a:r>
              <a:rPr lang="en-US" dirty="0" smtClean="0"/>
              <a:t>Nitroprusside</a:t>
            </a:r>
          </a:p>
          <a:p>
            <a:pPr lvl="2"/>
            <a:r>
              <a:rPr lang="en-US" dirty="0" smtClean="0"/>
              <a:t>Alpha-adrenergic antagonist (</a:t>
            </a:r>
            <a:r>
              <a:rPr lang="en-US" dirty="0" err="1" smtClean="0"/>
              <a:t>Phentolamine</a:t>
            </a:r>
            <a:r>
              <a:rPr lang="en-US" dirty="0" smtClean="0"/>
              <a:t>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Contraindicated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Beta-adrenergic antagonist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Mixed alpha and beta adrenergic antagonist</a:t>
            </a:r>
          </a:p>
          <a:p>
            <a:pPr lvl="2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Phenylpropanolamine toxicity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Dexatrim, Acutrim</a:t>
            </a:r>
          </a:p>
          <a:p>
            <a:r>
              <a:rPr lang="en-US" smtClean="0"/>
              <a:t>Alpha-adrenergic agonist</a:t>
            </a:r>
          </a:p>
          <a:p>
            <a:r>
              <a:rPr lang="en-US" b="1" smtClean="0"/>
              <a:t>Weight loss drug and supplement</a:t>
            </a:r>
          </a:p>
          <a:p>
            <a:r>
              <a:rPr lang="en-US" smtClean="0"/>
              <a:t>Hypertension is common in overdose</a:t>
            </a:r>
          </a:p>
          <a:p>
            <a:r>
              <a:rPr lang="en-US" smtClean="0"/>
              <a:t>Hypertensive encephalopathy</a:t>
            </a:r>
          </a:p>
          <a:p>
            <a:r>
              <a:rPr lang="en-US" smtClean="0"/>
              <a:t>Intracranial hemorrhage</a:t>
            </a:r>
          </a:p>
          <a:p>
            <a:r>
              <a:rPr lang="en-US" smtClean="0"/>
              <a:t>Seizure</a:t>
            </a:r>
          </a:p>
          <a:p>
            <a:r>
              <a:rPr lang="en-US" smtClean="0"/>
              <a:t>Withdrawn in November 2000</a:t>
            </a:r>
          </a:p>
          <a:p>
            <a:endParaRPr lang="en-US" smtClean="0"/>
          </a:p>
          <a:p>
            <a:pPr lvl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Phenylpropanolamine toxicity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Treatment of hypertension</a:t>
            </a:r>
          </a:p>
          <a:p>
            <a:pPr lvl="1"/>
            <a:r>
              <a:rPr lang="en-US" dirty="0" smtClean="0"/>
              <a:t>Rapid acting alpha adrenergic antagonist</a:t>
            </a:r>
          </a:p>
          <a:p>
            <a:pPr lvl="1"/>
            <a:r>
              <a:rPr lang="en-US" dirty="0" smtClean="0"/>
              <a:t>Sodium nitroprusside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Beta-adrenergic antagonist avoided</a:t>
            </a:r>
          </a:p>
          <a:p>
            <a:r>
              <a:rPr lang="en-US" dirty="0" smtClean="0"/>
              <a:t>Agitation, tachycardia and seizures</a:t>
            </a:r>
          </a:p>
          <a:p>
            <a:pPr lvl="1"/>
            <a:r>
              <a:rPr lang="en-US" dirty="0" smtClean="0"/>
              <a:t>Benzodiazepines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Arthropods causing hypertension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Black Widow Spider</a:t>
            </a:r>
          </a:p>
          <a:p>
            <a:pPr lvl="1"/>
            <a:r>
              <a:rPr lang="en-US" smtClean="0"/>
              <a:t>Latrodectus Mactans</a:t>
            </a:r>
          </a:p>
          <a:p>
            <a:pPr lvl="1"/>
            <a:r>
              <a:rPr lang="en-US" smtClean="0"/>
              <a:t>Hourglass Spider</a:t>
            </a:r>
          </a:p>
          <a:p>
            <a:r>
              <a:rPr lang="en-US" smtClean="0"/>
              <a:t>Funnel Web Spiders</a:t>
            </a:r>
          </a:p>
          <a:p>
            <a:r>
              <a:rPr lang="en-US" smtClean="0"/>
              <a:t>Scorpions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Antihypertensives that cause hypertension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Clonidine</a:t>
            </a:r>
            <a:endParaRPr lang="en-US" dirty="0" smtClean="0"/>
          </a:p>
          <a:p>
            <a:pPr lvl="1"/>
            <a:r>
              <a:rPr lang="en-US" dirty="0" smtClean="0"/>
              <a:t>Treatment: sodium nitroprusside</a:t>
            </a:r>
          </a:p>
          <a:p>
            <a:pPr lvl="1"/>
            <a:r>
              <a:rPr lang="en-US" dirty="0" err="1" smtClean="0">
                <a:solidFill>
                  <a:srgbClr val="FF0000"/>
                </a:solidFill>
              </a:rPr>
              <a:t>Esmolol</a:t>
            </a:r>
            <a:r>
              <a:rPr lang="en-US" dirty="0" smtClean="0">
                <a:solidFill>
                  <a:srgbClr val="FF0000"/>
                </a:solidFill>
              </a:rPr>
              <a:t> may exacerbate this paradoxical hypertension</a:t>
            </a:r>
          </a:p>
          <a:p>
            <a:r>
              <a:rPr lang="en-US" dirty="0" err="1" smtClean="0"/>
              <a:t>Pindolol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Nephrotic Syndrome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Metals</a:t>
            </a:r>
          </a:p>
          <a:p>
            <a:pPr lvl="1"/>
            <a:r>
              <a:rPr lang="en-US" dirty="0" smtClean="0"/>
              <a:t>Cadmium</a:t>
            </a:r>
          </a:p>
          <a:p>
            <a:pPr lvl="1"/>
            <a:r>
              <a:rPr lang="en-US" dirty="0" smtClean="0"/>
              <a:t>Lead</a:t>
            </a:r>
          </a:p>
          <a:p>
            <a:pPr lvl="1"/>
            <a:r>
              <a:rPr lang="en-US" dirty="0" smtClean="0"/>
              <a:t>Lithium</a:t>
            </a:r>
          </a:p>
          <a:p>
            <a:pPr lvl="1"/>
            <a:r>
              <a:rPr lang="en-US" dirty="0" smtClean="0"/>
              <a:t>Thallium</a:t>
            </a:r>
          </a:p>
          <a:p>
            <a:r>
              <a:rPr lang="en-US" dirty="0" err="1" smtClean="0"/>
              <a:t>Captopril</a:t>
            </a:r>
            <a:endParaRPr lang="en-US" dirty="0" smtClean="0"/>
          </a:p>
          <a:p>
            <a:r>
              <a:rPr lang="en-US" dirty="0" smtClean="0"/>
              <a:t>Heroin, amphetamines, cocaine</a:t>
            </a:r>
          </a:p>
          <a:p>
            <a:r>
              <a:rPr lang="en-US" dirty="0" smtClean="0"/>
              <a:t>NSAIDs</a:t>
            </a:r>
          </a:p>
          <a:p>
            <a:r>
              <a:rPr lang="en-US" dirty="0" err="1" smtClean="0"/>
              <a:t>Penicillamine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Hypertension in treatment of intoxication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Disulfiram</a:t>
            </a:r>
          </a:p>
          <a:p>
            <a:pPr lvl="1"/>
            <a:r>
              <a:rPr lang="en-US" smtClean="0"/>
              <a:t>Ethanol toxicity</a:t>
            </a:r>
          </a:p>
          <a:p>
            <a:r>
              <a:rPr lang="en-US" smtClean="0"/>
              <a:t>Naloxane</a:t>
            </a:r>
          </a:p>
          <a:p>
            <a:pPr lvl="1"/>
            <a:r>
              <a:rPr lang="en-US" smtClean="0"/>
              <a:t>Clonidine overdose</a:t>
            </a:r>
          </a:p>
          <a:p>
            <a:r>
              <a:rPr lang="en-US" smtClean="0"/>
              <a:t>Dimercaprol</a:t>
            </a:r>
          </a:p>
          <a:p>
            <a:pPr lvl="1"/>
            <a:r>
              <a:rPr lang="en-US" smtClean="0"/>
              <a:t>Arsenic toxicity</a:t>
            </a:r>
          </a:p>
          <a:p>
            <a:r>
              <a:rPr lang="en-US" smtClean="0"/>
              <a:t>Protamine</a:t>
            </a:r>
          </a:p>
          <a:p>
            <a:pPr lvl="1"/>
            <a:r>
              <a:rPr lang="en-US" smtClean="0"/>
              <a:t>Heparine toxicity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Others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Antihistamines</a:t>
            </a:r>
          </a:p>
          <a:p>
            <a:pPr lvl="1"/>
            <a:r>
              <a:rPr lang="en-US" smtClean="0"/>
              <a:t>Anticholinergic effect</a:t>
            </a:r>
          </a:p>
          <a:p>
            <a:r>
              <a:rPr lang="en-US" smtClean="0"/>
              <a:t>Decongestants</a:t>
            </a:r>
          </a:p>
          <a:p>
            <a:r>
              <a:rPr lang="en-US" smtClean="0"/>
              <a:t>Phencyclidine</a:t>
            </a:r>
          </a:p>
          <a:p>
            <a:r>
              <a:rPr lang="en-US" smtClean="0"/>
              <a:t>Ketamine</a:t>
            </a:r>
          </a:p>
          <a:p>
            <a:r>
              <a:rPr lang="en-US" smtClean="0"/>
              <a:t>SSRI – Seratonin syndrome</a:t>
            </a:r>
          </a:p>
          <a:p>
            <a:r>
              <a:rPr lang="en-US" smtClean="0"/>
              <a:t>Reboxetine – Norepinephrine reuptake inhibitor</a:t>
            </a:r>
          </a:p>
          <a:p>
            <a:r>
              <a:rPr lang="en-US" smtClean="0"/>
              <a:t>Bupropion</a:t>
            </a:r>
          </a:p>
          <a:p>
            <a:r>
              <a:rPr lang="en-US" smtClean="0"/>
              <a:t>Hypoglycemia</a:t>
            </a:r>
          </a:p>
          <a:p>
            <a:pPr>
              <a:buNone/>
            </a:pPr>
            <a:endParaRPr lang="en-US" smtClean="0"/>
          </a:p>
          <a:p>
            <a:endParaRPr lang="en-US" smtClean="0"/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Others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Cyanide</a:t>
            </a:r>
          </a:p>
          <a:p>
            <a:r>
              <a:rPr lang="en-US" smtClean="0"/>
              <a:t>Hallucinogens</a:t>
            </a:r>
          </a:p>
          <a:p>
            <a:pPr lvl="1"/>
            <a:r>
              <a:rPr lang="en-US" smtClean="0"/>
              <a:t>Bufotenine</a:t>
            </a:r>
          </a:p>
          <a:p>
            <a:pPr lvl="1"/>
            <a:r>
              <a:rPr lang="en-US" smtClean="0"/>
              <a:t>Salvinorin A</a:t>
            </a:r>
          </a:p>
          <a:p>
            <a:r>
              <a:rPr lang="en-US" smtClean="0"/>
              <a:t>Food poisoning</a:t>
            </a:r>
          </a:p>
          <a:p>
            <a:pPr lvl="1"/>
            <a:r>
              <a:rPr lang="en-US" smtClean="0"/>
              <a:t>Tyramine</a:t>
            </a:r>
          </a:p>
          <a:p>
            <a:pPr lvl="1"/>
            <a:r>
              <a:rPr lang="en-US" smtClean="0"/>
              <a:t>HUS (Hemolytic uremic syndrome)</a:t>
            </a:r>
          </a:p>
          <a:p>
            <a:r>
              <a:rPr lang="en-US" smtClean="0"/>
              <a:t>Herbal preparations</a:t>
            </a:r>
          </a:p>
          <a:p>
            <a:pPr lvl="1"/>
            <a:r>
              <a:rPr lang="en-US" smtClean="0"/>
              <a:t>Ginseng abuse syndrome</a:t>
            </a:r>
          </a:p>
          <a:p>
            <a:pPr lvl="1"/>
            <a:r>
              <a:rPr lang="en-US" smtClean="0"/>
              <a:t>Ephedra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Others</a:t>
            </a:r>
            <a:endParaRPr lang="en-US" b="1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Hoigne</a:t>
            </a:r>
            <a:r>
              <a:rPr lang="en-US" dirty="0" smtClean="0"/>
              <a:t> Syndrome</a:t>
            </a:r>
          </a:p>
          <a:p>
            <a:pPr lvl="1"/>
            <a:r>
              <a:rPr lang="en-US" dirty="0" smtClean="0"/>
              <a:t>Procaine </a:t>
            </a:r>
            <a:r>
              <a:rPr lang="en-US" dirty="0" err="1" smtClean="0"/>
              <a:t>penicilline</a:t>
            </a:r>
            <a:r>
              <a:rPr lang="en-US" dirty="0" smtClean="0"/>
              <a:t> G</a:t>
            </a:r>
          </a:p>
          <a:p>
            <a:r>
              <a:rPr lang="en-US" dirty="0" smtClean="0"/>
              <a:t>Insecticide</a:t>
            </a:r>
            <a:r>
              <a:rPr lang="tr-TR" dirty="0" smtClean="0"/>
              <a:t>s</a:t>
            </a:r>
            <a:endParaRPr lang="en-US" dirty="0" smtClean="0"/>
          </a:p>
          <a:p>
            <a:pPr lvl="1"/>
            <a:r>
              <a:rPr lang="en-US" dirty="0" smtClean="0"/>
              <a:t>Cholinesterase inhibitors</a:t>
            </a:r>
          </a:p>
          <a:p>
            <a:pPr lvl="1"/>
            <a:r>
              <a:rPr lang="en-US" dirty="0" smtClean="0"/>
              <a:t>Strychnine</a:t>
            </a:r>
          </a:p>
          <a:p>
            <a:r>
              <a:rPr lang="en-US" dirty="0" smtClean="0"/>
              <a:t>Acute alcohol exposure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395</Words>
  <Application>Microsoft Office PowerPoint</Application>
  <PresentationFormat>Ekran Gösterisi (4:3)</PresentationFormat>
  <Paragraphs>171</Paragraphs>
  <Slides>20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1" baseType="lpstr">
      <vt:lpstr>Ofis Teması</vt:lpstr>
      <vt:lpstr>HYPERTENSION IN INTOXICATIONS</vt:lpstr>
      <vt:lpstr>Slayt 2</vt:lpstr>
      <vt:lpstr>Hypertension in intoxications</vt:lpstr>
      <vt:lpstr>Common xenobiotics that increase blood pressure</vt:lpstr>
      <vt:lpstr>Common xenobiotics that increase blood pressure</vt:lpstr>
      <vt:lpstr>MAO Inhibitor overdose</vt:lpstr>
      <vt:lpstr>MAO Inhibitor overdose</vt:lpstr>
      <vt:lpstr>Amphetamine overdose</vt:lpstr>
      <vt:lpstr>Amphetamine overdose</vt:lpstr>
      <vt:lpstr>Cocaine overdose</vt:lpstr>
      <vt:lpstr>Cocaine overdose Persistant Hypertension</vt:lpstr>
      <vt:lpstr>Phenylpropanolamine toxicity</vt:lpstr>
      <vt:lpstr>Phenylpropanolamine toxicity</vt:lpstr>
      <vt:lpstr>Arthropods causing hypertension</vt:lpstr>
      <vt:lpstr>Antihypertensives that cause hypertension</vt:lpstr>
      <vt:lpstr>Nephrotic Syndrome</vt:lpstr>
      <vt:lpstr>Hypertension in treatment of intoxication</vt:lpstr>
      <vt:lpstr>Others</vt:lpstr>
      <vt:lpstr>Others</vt:lpstr>
      <vt:lpstr>Others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HYPERTENSION IN INTOXICATIONS</dc:title>
  <dc:creator>Fatih Büyükcam</dc:creator>
  <cp:lastModifiedBy>Fatih Büyükcam</cp:lastModifiedBy>
  <cp:revision>73</cp:revision>
  <dcterms:created xsi:type="dcterms:W3CDTF">2013-06-21T16:20:31Z</dcterms:created>
  <dcterms:modified xsi:type="dcterms:W3CDTF">2013-06-28T06:30:25Z</dcterms:modified>
</cp:coreProperties>
</file>